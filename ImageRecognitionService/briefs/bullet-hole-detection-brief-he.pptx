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800" b="1" i="0">
                <a:solidFill>
                  <a:srgbClr val="16181D"/>
                </a:solidFill>
                <a:latin typeface="Arial"/>
                <a:cs typeface="Arial"/>
              </a:rPr>
              <a:t>זיהוי חורי ירי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00" b="0" i="0">
                <a:solidFill>
                  <a:srgbClr val="5B6270"/>
                </a:solidFill>
                <a:latin typeface="Arial"/>
                <a:cs typeface="Arial"/>
              </a:rPr>
              <a:t>מה נבדק, על אילו נתונים, ומה המערכת מדווחת</a:t>
            </a:r>
          </a:p>
        </p:txBody>
      </p:sp>
      <p:sp>
        <p:nvSpPr>
          <p:cNvPr id="4" name="Rectangle 3"/>
          <p:cNvSpPr/>
          <p:nvPr/>
        </p:nvSpPr>
        <p:spPr>
          <a:xfrm>
            <a:off x="9082735" y="2057400"/>
            <a:ext cx="23774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1" i="0">
                <a:solidFill>
                  <a:srgbClr val="B3261E"/>
                </a:solidFill>
                <a:latin typeface="Arial"/>
                <a:cs typeface="Arial"/>
              </a:rPr>
              <a:t>המודל שנבדק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728655" cy="24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מודל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kanat_model10 v2.0,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אומן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באוגוסט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2025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מסד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הנתונים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og_database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ברזולוציית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1280.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-  הבדיקה נערכה על 13 צילומי מטווח אמיתיים, ובהם לוח ייחוס וצילום תקריב.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1" i="0">
                <a:solidFill>
                  <a:srgbClr val="B3261E"/>
                </a:solidFill>
                <a:latin typeface="Arial"/>
                <a:cs typeface="Arial"/>
              </a:rPr>
              <a:t>מה המערכת מדווחת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-  המערכת מאתרת את מטרות הנייר על הלוח, ואז את חורי הירי סביבן, ומדווחת על מרחק כל חור ממרכז המטרה.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1888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היא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סופרת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סימנים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גלויים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הנייר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ולא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כדורים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שנורו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שני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כדורים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שעברו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כמעט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באותה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נקודה</a:t>
            </a:r>
            <a:endParaRPr sz="1350" b="0" i="0" dirty="0">
              <a:solidFill>
                <a:srgbClr val="16181D"/>
              </a:solidFill>
              <a:latin typeface="Arial"/>
              <a:cs typeface="Arial"/>
            </a:endParaRPr>
          </a:p>
          <a:p>
            <a:pPr algn="r" rtl="1">
              <a:lnSpc>
                <a:spcPct val="135000"/>
              </a:lnSpc>
            </a:pP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משאירים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סימן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אחד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ונספרים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כאחד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זו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מגבלה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ראייה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מתמונה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בודדת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ולא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תקלה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06440"/>
            <a:ext cx="10728655" cy="566928"/>
          </a:xfrm>
          <a:prstGeom prst="rect">
            <a:avLst/>
          </a:prstGeom>
          <a:solidFill>
            <a:srgbClr val="F5F6F8"/>
          </a:solidFill>
          <a:ln w="12700">
            <a:solidFill>
              <a:srgbClr val="D6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989320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יש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לקרוא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כל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ספירה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כ"חורים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הנראים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על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הנייר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",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ולעולם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לא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כ"כדורים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 </a:t>
            </a:r>
            <a:r>
              <a:rPr sz="1300" b="0" i="1" dirty="0" err="1">
                <a:solidFill>
                  <a:srgbClr val="B3261E"/>
                </a:solidFill>
                <a:latin typeface="Arial"/>
                <a:cs typeface="Arial"/>
              </a:rPr>
              <a:t>שנורו</a:t>
            </a:r>
            <a:r>
              <a:rPr sz="1300" b="0" i="1" dirty="0">
                <a:solidFill>
                  <a:srgbClr val="B3261E"/>
                </a:solidFill>
                <a:latin typeface="Arial"/>
                <a:cs typeface="Arial"/>
              </a:rPr>
              <a:t>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1" i="0">
                <a:solidFill>
                  <a:srgbClr val="B3261E"/>
                </a:solidFill>
                <a:latin typeface="Arial"/>
                <a:cs typeface="Arial"/>
              </a:rPr>
              <a:t>תוצאות מדידה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400" b="1" i="0">
                <a:solidFill>
                  <a:srgbClr val="16181D"/>
                </a:solidFill>
                <a:latin typeface="Arial"/>
                <a:cs typeface="Arial"/>
              </a:rPr>
              <a:t>כל נקודות ההשוואה, באותו פורמט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81328"/>
            <a:ext cx="10728655" cy="10972"/>
          </a:xfrm>
          <a:prstGeom prst="rect">
            <a:avLst/>
          </a:prstGeom>
          <a:solidFill>
            <a:srgbClr val="D6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1" i="0">
                <a:solidFill>
                  <a:srgbClr val="16181D"/>
                </a:solidFill>
                <a:latin typeface="Arial"/>
                <a:cs typeface="Arial"/>
              </a:rPr>
              <a:t>ערכת האימות של המודל, מדגם מתוך צילומי האימון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4135" y="2148840"/>
            <a:ext cx="237744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6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37015" y="226771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50" b="0" i="0">
                <a:solidFill>
                  <a:srgbClr val="5B6270"/>
                </a:solidFill>
                <a:latin typeface="Arial"/>
                <a:cs typeface="Arial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7015" y="250545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1" i="0">
                <a:solidFill>
                  <a:srgbClr val="16181D"/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2375" y="2148840"/>
            <a:ext cx="237744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6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5255" y="226771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50" b="0" i="0">
                <a:solidFill>
                  <a:srgbClr val="5B6270"/>
                </a:solidFill>
                <a:latin typeface="Arial"/>
                <a:cs typeface="Arial"/>
              </a:rPr>
              <a:t>דיוק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250545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1" i="0">
                <a:solidFill>
                  <a:srgbClr val="16181D"/>
                </a:solidFill>
                <a:latin typeface="Arial"/>
                <a:cs typeface="Arial"/>
              </a:rPr>
              <a:t>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0615" y="2148840"/>
            <a:ext cx="237744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6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3495" y="226771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50" b="0" i="0">
                <a:solidFill>
                  <a:srgbClr val="5B6270"/>
                </a:solidFill>
                <a:latin typeface="Arial"/>
                <a:cs typeface="Arial"/>
              </a:rPr>
              <a:t>אחזור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495" y="250545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1" i="0">
                <a:solidFill>
                  <a:srgbClr val="16181D"/>
                </a:solidFill>
                <a:latin typeface="Arial"/>
                <a:cs typeface="Arial"/>
              </a:rPr>
              <a:t>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855" y="2148840"/>
            <a:ext cx="237744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6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1735" y="226771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50" b="0" i="0">
                <a:solidFill>
                  <a:srgbClr val="5B6270"/>
                </a:solidFill>
                <a:latin typeface="Arial"/>
                <a:cs typeface="Arial"/>
              </a:rPr>
              <a:t>mAP@50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" y="250545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1" i="0">
                <a:solidFill>
                  <a:srgbClr val="16181D"/>
                </a:solidFill>
                <a:latin typeface="Arial"/>
                <a:cs typeface="Arial"/>
              </a:rPr>
              <a:t>0.93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10728655" cy="10972"/>
          </a:xfrm>
          <a:prstGeom prst="rect">
            <a:avLst/>
          </a:prstGeom>
          <a:solidFill>
            <a:srgbClr val="D6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1" i="0">
                <a:solidFill>
                  <a:srgbClr val="16181D"/>
                </a:solidFill>
                <a:latin typeface="Arial"/>
                <a:cs typeface="Arial"/>
              </a:rPr>
              <a:t>צילומי מטווח אמיתיים, מול ספירת עין של הסימנים על הלוח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8175" y="40233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לוח הייחוס, הגדרת ברירת המחדל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0 חורים מתוך 17 המשקפים 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34256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88175" y="442569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לוח הייחוס, הסף הקודם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25696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2 חורים מתוך 17 המשקפים 12%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36592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88175" y="482803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לוח הייחוס, לאחר כיול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28032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17 חורים מתוך 17 המשקפים 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38928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88175" y="52303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צילום תקריב, הגדרה סטנדרטית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30368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0 חורים מתוך 15 המשקפים 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41264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88175" y="563270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צילום תקריב, לאחר כיול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32704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5 חורים מתוך 15 המשקפים 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943600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88175" y="60350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1" i="0">
                <a:solidFill>
                  <a:srgbClr val="16181D"/>
                </a:solidFill>
                <a:latin typeface="Arial"/>
                <a:cs typeface="Arial"/>
              </a:rPr>
              <a:t>צילומי דוגמה שלא החזירו דבר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50" b="0" i="0">
                <a:solidFill>
                  <a:srgbClr val="16181D"/>
                </a:solidFill>
                <a:latin typeface="Arial"/>
                <a:cs typeface="Arial"/>
              </a:rPr>
              <a:t>נמצאו 5 צילומים מתוך 13 המשקפים 38%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45936"/>
            <a:ext cx="10728655" cy="10972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1">
                <a:solidFill>
                  <a:srgbClr val="5B6270"/>
                </a:solidFill>
                <a:latin typeface="Arial"/>
                <a:cs typeface="Arial"/>
              </a:rPr>
              <a:t>המכנים הם ספירת עין ולא תיוג מאומת. ההתאמה בין כל זיהוי לסימן מסוים לא נבדקה אחד לאחד.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1" i="0">
                <a:solidFill>
                  <a:srgbClr val="B3261E"/>
                </a:solidFill>
                <a:latin typeface="Arial"/>
                <a:cs typeface="Arial"/>
              </a:rPr>
              <a:t>חולשות ופערים ידועים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400" b="1" i="0">
                <a:solidFill>
                  <a:srgbClr val="16181D"/>
                </a:solidFill>
                <a:latin typeface="Arial"/>
                <a:cs typeface="Arial"/>
              </a:rPr>
              <a:t>היכן המערכת אינה אמינה כיום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81328"/>
            <a:ext cx="10728655" cy="10972"/>
          </a:xfrm>
          <a:prstGeom prst="rect">
            <a:avLst/>
          </a:prstGeom>
          <a:solidFill>
            <a:srgbClr val="D6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מערך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צילום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דורש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כיול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ידני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אותו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לוח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אותו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מודל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: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לפני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כיול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נמצאו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0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מתוך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17</a:t>
            </a:r>
          </a:p>
          <a:p>
            <a:pPr algn="r" rtl="1">
              <a:lnSpc>
                <a:spcPct val="135000"/>
              </a:lnSpc>
            </a:pP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המשקפים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0%,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ולאחר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כיול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נמצאו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17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מתוך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17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המשקפים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100%.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3288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צילומי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תקריב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נשארים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חלשים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גם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לאחר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כיול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נמצאו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5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מתוך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15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המשקפים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33%.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82696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לוחות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מרוחקים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אינם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מזוהים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כלל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בפריים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שלהלן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נמצאו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0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מטרות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מתוך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2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המשקפים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0%,</a:t>
            </a:r>
          </a:p>
          <a:p>
            <a:pPr algn="r" rtl="1">
              <a:lnSpc>
                <a:spcPct val="135000"/>
              </a:lnSpc>
            </a:pP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וללא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מטרה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הלוח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אינו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מדווח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כלל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32504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אין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ערכת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בדיקה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מתויגת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בשטח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,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ולכן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ידוע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כמה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אמיתיים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הוחמצו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וכמה</a:t>
            </a:r>
            <a:endParaRPr sz="1350" b="0" i="0" dirty="0">
              <a:solidFill>
                <a:srgbClr val="16181D"/>
              </a:solidFill>
              <a:latin typeface="Arial"/>
              <a:cs typeface="Arial"/>
            </a:endParaRPr>
          </a:p>
          <a:p>
            <a:pPr algn="r" rtl="1">
              <a:lnSpc>
                <a:spcPct val="135000"/>
              </a:lnSpc>
            </a:pP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מהזיהויים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אינם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חורים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כלל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5B6270"/>
                </a:solidFill>
                <a:latin typeface="Arial"/>
                <a:cs typeface="Arial"/>
              </a:rPr>
              <a:t>לוחות מרוחקים בפריים אמיתי. נמצאו 0 מטרות מתוך 2 המשקפים 0%</a:t>
            </a:r>
          </a:p>
        </p:txBody>
      </p:sp>
      <p:pic>
        <p:nvPicPr>
          <p:cNvPr id="10" name="Picture 9" descr="eval_video_far_boards_mi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622" y="5029200"/>
            <a:ext cx="251555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1" i="0">
                <a:solidFill>
                  <a:srgbClr val="B3261E"/>
                </a:solidFill>
                <a:latin typeface="Arial"/>
                <a:cs typeface="Arial"/>
              </a:rPr>
              <a:t>סיכום והמלצות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400" b="1" i="0">
                <a:solidFill>
                  <a:srgbClr val="16181D"/>
                </a:solidFill>
                <a:latin typeface="Arial"/>
                <a:cs typeface="Arial"/>
              </a:rPr>
              <a:t>מה למדנו, ומה נדרש כדי לסגור את הפער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81328"/>
            <a:ext cx="10728655" cy="10972"/>
          </a:xfrm>
          <a:prstGeom prst="rect">
            <a:avLst/>
          </a:prstGeom>
          <a:solidFill>
            <a:srgbClr val="D6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1" i="0">
                <a:solidFill>
                  <a:srgbClr val="B3261E"/>
                </a:solidFill>
                <a:latin typeface="Arial"/>
                <a:cs typeface="Arial"/>
              </a:rPr>
              <a:t>מה למדנו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-  הפער העיקרי אינו במשקולות המודל. בהגדרות נכונות אותו מודל עלה מ-0 חורים מתוך 17</a:t>
            </a:r>
          </a:p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המשקפים 0%, ל-17 חורים מתוך 17 המשקפים 100%, על אותה תמונה בדיוק.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35224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-  מיזוג הכפילויות אוחד מארבעה כללים סותרים לכלל אחד, כך שקבוצות ירי צפופות</a:t>
            </a:r>
          </a:p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אינן נבלעות עוד לחור אחד.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- 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ציון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גבוה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ערכת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האימות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אינו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מנבא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ביצועים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בשטח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שיעור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90%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שם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חי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לצד</a:t>
            </a:r>
            <a:endParaRPr sz="1350" b="0" i="0" dirty="0">
              <a:solidFill>
                <a:srgbClr val="16181D"/>
              </a:solidFill>
              <a:latin typeface="Arial"/>
              <a:cs typeface="Arial"/>
            </a:endParaRPr>
          </a:p>
          <a:p>
            <a:pPr algn="r" rtl="1">
              <a:lnSpc>
                <a:spcPct val="135000"/>
              </a:lnSpc>
            </a:pP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0% </a:t>
            </a:r>
            <a:r>
              <a:rPr lang="he-IL"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בהגדרת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ברירת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המחדל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על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לוח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 </a:t>
            </a:r>
            <a:r>
              <a:rPr sz="1350" b="0" i="0" dirty="0" err="1">
                <a:solidFill>
                  <a:srgbClr val="16181D"/>
                </a:solidFill>
                <a:latin typeface="Arial"/>
                <a:cs typeface="Arial"/>
              </a:rPr>
              <a:t>הייחוס</a:t>
            </a:r>
            <a:r>
              <a:rPr sz="1350" b="0" i="0" dirty="0">
                <a:solidFill>
                  <a:srgbClr val="16181D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07992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-  אי אפשר להתקדם בלי נתונים מהלקוח. כיול לכל עמדה, וכל אחוז דיוק אמיתי בשטח, תלויים</a:t>
            </a:r>
          </a:p>
          <a:p>
            <a:pPr algn="r" rtl="1">
              <a:lnSpc>
                <a:spcPct val="135000"/>
              </a:lnSpc>
            </a:pPr>
            <a:r>
              <a:rPr sz="1350" b="0" i="0">
                <a:solidFill>
                  <a:srgbClr val="16181D"/>
                </a:solidFill>
                <a:latin typeface="Arial"/>
                <a:cs typeface="Arial"/>
              </a:rPr>
              <a:t>בצילומים מהעמדות, המרחקים וקטרי הכדורים שבשימוש בפועל, ובספירה מוסכמת של הסימנים בכל צילום.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505</Words>
  <Application>Microsoft Macintosh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Ronen S</cp:lastModifiedBy>
  <cp:revision>2</cp:revision>
  <dcterms:created xsi:type="dcterms:W3CDTF">2013-01-27T09:14:16Z</dcterms:created>
  <dcterms:modified xsi:type="dcterms:W3CDTF">2026-08-25T11:40:42Z</dcterms:modified>
  <cp:category/>
</cp:coreProperties>
</file>